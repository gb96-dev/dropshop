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NanumSquareRoundOTF Bold"/>
      <p:bold r:id="rId18"/>
    </p:embeddedFont>
    <p:embeddedFont>
      <p:font typeface="NanumSquareRoundOTF Light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.fntdata" Type="http://schemas.openxmlformats.org/officeDocument/2006/relationships/font"/><Relationship Id="rId19" Target="fonts/font2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5.png" Type="http://schemas.openxmlformats.org/officeDocument/2006/relationships/image"/><Relationship Id="rId7" Target="../media/image6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7.png" Type="http://schemas.openxmlformats.org/officeDocument/2006/relationships/image"/><Relationship Id="rId7" Target="../media/image8.png" Type="http://schemas.openxmlformats.org/officeDocument/2006/relationships/image"/><Relationship Id="rId8" Target="../media/image9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4.png" Type="http://schemas.openxmlformats.org/officeDocument/2006/relationships/image"/><Relationship Id="rId11" Target="../media/image15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0.png" Type="http://schemas.openxmlformats.org/officeDocument/2006/relationships/image"/><Relationship Id="rId7" Target="../media/image11.png" Type="http://schemas.openxmlformats.org/officeDocument/2006/relationships/image"/><Relationship Id="rId8" Target="../media/image12.png" Type="http://schemas.openxmlformats.org/officeDocument/2006/relationships/image"/><Relationship Id="rId9" Target="../media/image1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8.png" Type="http://schemas.openxmlformats.org/officeDocument/2006/relationships/image"/><Relationship Id="rId7" Target="../media/image19.png" Type="http://schemas.openxmlformats.org/officeDocument/2006/relationships/image"/><Relationship Id="rId8" Target="../media/image20.png" Type="http://schemas.openxmlformats.org/officeDocument/2006/relationships/image"/><Relationship Id="rId9" Target="../media/image21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22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28.png" Type="http://schemas.openxmlformats.org/officeDocument/2006/relationships/image"/><Relationship Id="rId7" Target="../media/image29.png" Type="http://schemas.openxmlformats.org/officeDocument/2006/relationships/image"/><Relationship Id="rId8" Target="../media/image30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5.png" Type="http://schemas.openxmlformats.org/officeDocument/2006/relationships/image"/><Relationship Id="rId11" Target="../media/image36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31.png" Type="http://schemas.openxmlformats.org/officeDocument/2006/relationships/image"/><Relationship Id="rId7" Target="../media/image32.png" Type="http://schemas.openxmlformats.org/officeDocument/2006/relationships/image"/><Relationship Id="rId8" Target="../media/image33.png" Type="http://schemas.openxmlformats.org/officeDocument/2006/relationships/image"/><Relationship Id="rId9" Target="../media/image34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6.png" Type="http://schemas.openxmlformats.org/officeDocument/2006/relationships/image"/><Relationship Id="rId11" Target="../media/image27.png" Type="http://schemas.openxmlformats.org/officeDocument/2006/relationships/image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22.png" Type="http://schemas.openxmlformats.org/officeDocument/2006/relationships/image"/><Relationship Id="rId7" Target="../media/image23.png" Type="http://schemas.openxmlformats.org/officeDocument/2006/relationships/image"/><Relationship Id="rId8" Target="../media/image24.png" Type="http://schemas.openxmlformats.org/officeDocument/2006/relationships/image"/><Relationship Id="rId9" Target="../media/image25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37.png" Type="http://schemas.openxmlformats.org/officeDocument/2006/relationships/image"/><Relationship Id="rId7" Target="../media/image38.png" Type="http://schemas.openxmlformats.org/officeDocument/2006/relationships/image"/><Relationship Id="rId8" Target="../media/image39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png" Type="http://schemas.openxmlformats.org/officeDocument/2006/relationships/image"/><Relationship Id="rId4" Target="../media/image3.png" Type="http://schemas.openxmlformats.org/officeDocument/2006/relationships/image"/><Relationship Id="rId5" Target="../media/image4.png" Type="http://schemas.openxmlformats.org/officeDocument/2006/relationships/image"/><Relationship Id="rId6" Target="../media/image16.png" Type="http://schemas.openxmlformats.org/officeDocument/2006/relationships/image"/><Relationship Id="rId7" Target="../media/image17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EC0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" y="1092200"/>
            <a:ext cx="17272000" cy="8737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12598400" y="-2971800"/>
            <a:ext cx="1206500" cy="8128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611600" y="482600"/>
            <a:ext cx="12065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267200" y="-3251200"/>
            <a:ext cx="1206500" cy="8661400"/>
          </a:xfrm>
          <a:prstGeom prst="rect">
            <a:avLst/>
          </a:prstGeom>
        </p:spPr>
      </p:pic>
      <p:pic>
        <p:nvPicPr>
          <p:cNvPr name="Picture 6" id="6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7094200" y="901700"/>
            <a:ext cx="215900" cy="381000"/>
          </a:xfrm>
          <a:prstGeom prst="rect">
            <a:avLst/>
          </a:prstGeom>
        </p:spPr>
      </p:pic>
      <p:sp>
        <p:nvSpPr>
          <p:cNvPr name="TextBox 7" id="7"/>
          <p:cNvSpPr txBox="true"/>
          <p:nvPr/>
        </p:nvSpPr>
        <p:spPr>
          <a:xfrm rot="0">
            <a:off x="914400" y="952500"/>
            <a:ext cx="23368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 spc="200">
                <a:solidFill>
                  <a:srgbClr val="000000"/>
                </a:solidFill>
                <a:latin typeface="NanumSquareRoundOTF Bold"/>
              </a:rPr>
              <a:t>Miri Company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2413000" y="6718300"/>
            <a:ext cx="13766800" cy="127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955800" y="2654300"/>
            <a:ext cx="14389100" cy="34671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10500" b="false" i="false" u="none" strike="noStrike">
                <a:solidFill>
                  <a:srgbClr val="2FA599"/>
                </a:solidFill>
                <a:latin typeface="establish Retrosans"/>
              </a:rPr>
              <a:t>Dropshop: </a:t>
            </a:r>
            <a:r>
              <a:rPr lang="ko-KR" sz="10500" b="false" i="false" u="none" strike="noStrike">
                <a:solidFill>
                  <a:srgbClr val="2FA599"/>
                </a:solidFill>
                <a:ea typeface="establish Retrosans"/>
              </a:rPr>
              <a:t>한정판</a:t>
            </a:r>
            <a:r>
              <a:rPr lang="en-US" sz="10500" b="false" i="false" u="none" strike="noStrike">
                <a:solidFill>
                  <a:srgbClr val="2FA599"/>
                </a:solidFill>
                <a:latin typeface="establish Retrosans"/>
              </a:rPr>
              <a:t> </a:t>
            </a:r>
            <a:r>
              <a:rPr lang="ko-KR" sz="10500" b="false" i="false" u="none" strike="noStrike">
                <a:solidFill>
                  <a:srgbClr val="2FA599"/>
                </a:solidFill>
                <a:ea typeface="establish Retrosans"/>
              </a:rPr>
              <a:t>드랍</a:t>
            </a:r>
            <a:r>
              <a:rPr lang="en-US" sz="10500" b="false" i="false" u="none" strike="noStrike">
                <a:solidFill>
                  <a:srgbClr val="2FA599"/>
                </a:solidFill>
                <a:latin typeface="establish Retrosans"/>
              </a:rPr>
              <a:t> </a:t>
            </a:r>
            <a:r>
              <a:rPr lang="ko-KR" sz="10500" b="false" i="false" u="none" strike="noStrike">
                <a:solidFill>
                  <a:srgbClr val="2FA599"/>
                </a:solidFill>
                <a:ea typeface="establish Retrosans"/>
              </a:rPr>
              <a:t>커머스</a:t>
            </a:r>
            <a:r>
              <a:rPr lang="en-US" sz="10500" b="false" i="false" u="none" strike="noStrike">
                <a:solidFill>
                  <a:srgbClr val="2FA599"/>
                </a:solidFill>
                <a:latin typeface="establish Retrosans"/>
              </a:rPr>
              <a:t> </a:t>
            </a:r>
            <a:r>
              <a:rPr lang="ko-KR" sz="10500" b="false" i="false" u="none" strike="noStrike">
                <a:solidFill>
                  <a:srgbClr val="2FA599"/>
                </a:solidFill>
                <a:ea typeface="establish Retrosans"/>
              </a:rPr>
              <a:t>백엔드</a:t>
            </a:r>
            <a:r>
              <a:rPr lang="en-US" sz="10500" b="false" i="false" u="none" strike="noStrike">
                <a:solidFill>
                  <a:srgbClr val="2FA599"/>
                </a:solidFill>
                <a:latin typeface="establish Retrosans"/>
              </a:rPr>
              <a:t> </a:t>
            </a:r>
            <a:r>
              <a:rPr lang="ko-KR" sz="10500" b="false" i="false" u="none" strike="noStrike">
                <a:solidFill>
                  <a:srgbClr val="2FA599"/>
                </a:solidFill>
                <a:ea typeface="establish Retrosans"/>
              </a:rPr>
              <a:t>플랫폼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2374900" y="7086600"/>
            <a:ext cx="13843000" cy="990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3000" b="false" i="false" u="none" strike="noStrike">
                <a:solidFill>
                  <a:srgbClr val="000000"/>
                </a:solidFill>
                <a:latin typeface="NanumSquareRoundOTF Bold"/>
              </a:rPr>
              <a:t>Spring Boot / Redis / Kafka / SSE / PortOne / AI </a:t>
            </a:r>
            <a:r>
              <a:rPr lang="ko-KR" sz="3000" b="false" i="false" u="none" strike="noStrike">
                <a:solidFill>
                  <a:srgbClr val="000000"/>
                </a:solidFill>
                <a:ea typeface="NanumSquareRoundOTF Bold"/>
              </a:rPr>
              <a:t>추천</a:t>
            </a:r>
            <a:r>
              <a:rPr lang="en-US" sz="30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NanumSquareRoundOTF Bold"/>
              </a:rPr>
              <a:t>기반</a:t>
            </a:r>
            <a:r>
              <a:rPr lang="en-US" sz="30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NanumSquareRoundOTF Bold"/>
              </a:rPr>
              <a:t>고트래픽</a:t>
            </a:r>
            <a:r>
              <a:rPr lang="en-US" sz="30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NanumSquareRoundOTF Bold"/>
              </a:rPr>
              <a:t>대응</a:t>
            </a:r>
            <a:r>
              <a:rPr lang="en-US" sz="30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NanumSquareRoundOTF Bold"/>
              </a:rPr>
              <a:t>백엔드</a:t>
            </a:r>
            <a:r>
              <a:rPr lang="en-US" sz="30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3000" b="false" i="false" u="none" strike="noStrike">
                <a:solidFill>
                  <a:srgbClr val="000000"/>
                </a:solidFill>
                <a:ea typeface="NanumSquareRoundOTF Bold"/>
              </a:rPr>
              <a:t>시스템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D0D0D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" y="1092200"/>
            <a:ext cx="17272000" cy="8737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12598400" y="-2971800"/>
            <a:ext cx="1206500" cy="8128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611600" y="482600"/>
            <a:ext cx="12065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267200" y="-3251200"/>
            <a:ext cx="1206500" cy="8661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889000" y="1917700"/>
            <a:ext cx="16497300" cy="977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목차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914400" y="952500"/>
            <a:ext cx="23368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 spc="200">
                <a:solidFill>
                  <a:srgbClr val="000000"/>
                </a:solidFill>
                <a:latin typeface="NanumSquareRoundOTF Bold"/>
              </a:rPr>
              <a:t>Miri Company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1100" y="5118100"/>
            <a:ext cx="4711700" cy="1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3276600" y="3556000"/>
            <a:ext cx="508000" cy="5080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3200400" y="3632200"/>
            <a:ext cx="660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 spc="400">
                <a:solidFill>
                  <a:srgbClr val="000000"/>
                </a:solidFill>
                <a:latin typeface="NanumSquareRoundOTF Bold"/>
              </a:rPr>
              <a:t>1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143000" y="4495800"/>
            <a:ext cx="4775200" cy="4191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프로젝트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소개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43000" y="5295900"/>
            <a:ext cx="4775200" cy="838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기획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배경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,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문제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정의</a:t>
            </a:r>
          </a:p>
          <a:p>
            <a:pPr algn="ctr" lvl="0">
              <a:lnSpc>
                <a:spcPct val="132800"/>
              </a:lnSpc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핵심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가치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제시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81100" y="8242300"/>
            <a:ext cx="4711700" cy="127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3276600" y="6680200"/>
            <a:ext cx="508000" cy="5080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3200400" y="6756400"/>
            <a:ext cx="660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 spc="400">
                <a:solidFill>
                  <a:srgbClr val="000000"/>
                </a:solidFill>
                <a:latin typeface="NanumSquareRoundOTF Bold"/>
              </a:rPr>
              <a:t>4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143000" y="7620000"/>
            <a:ext cx="4775200" cy="4191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핵심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기능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143000" y="8420100"/>
            <a:ext cx="4775200" cy="838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드랍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/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대기열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,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알림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,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결제</a:t>
            </a:r>
          </a:p>
          <a:p>
            <a:pPr algn="ctr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AI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추천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시스템</a:t>
            </a:r>
          </a:p>
        </p:txBody>
      </p:sp>
      <p:pic>
        <p:nvPicPr>
          <p:cNvPr name="Picture 18" id="1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19900" y="5118100"/>
            <a:ext cx="4711700" cy="12700"/>
          </a:xfrm>
          <a:prstGeom prst="rect">
            <a:avLst/>
          </a:prstGeom>
        </p:spPr>
      </p:pic>
      <p:pic>
        <p:nvPicPr>
          <p:cNvPr name="Picture 19" id="1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8915400" y="3556000"/>
            <a:ext cx="508000" cy="508000"/>
          </a:xfrm>
          <a:prstGeom prst="rect">
            <a:avLst/>
          </a:prstGeom>
        </p:spPr>
      </p:pic>
      <p:sp>
        <p:nvSpPr>
          <p:cNvPr name="TextBox 20" id="20"/>
          <p:cNvSpPr txBox="true"/>
          <p:nvPr/>
        </p:nvSpPr>
        <p:spPr>
          <a:xfrm rot="0">
            <a:off x="8839200" y="3632200"/>
            <a:ext cx="660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 spc="400">
                <a:solidFill>
                  <a:srgbClr val="000000"/>
                </a:solidFill>
                <a:latin typeface="NanumSquareRoundOTF Bold"/>
              </a:rPr>
              <a:t>2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781800" y="4495800"/>
            <a:ext cx="4775200" cy="4191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팀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소개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및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역할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분담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6794500" y="5295900"/>
            <a:ext cx="4775200" cy="838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팀원별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담당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역할</a:t>
            </a:r>
          </a:p>
          <a:p>
            <a:pPr algn="ctr" lvl="0">
              <a:lnSpc>
                <a:spcPct val="132800"/>
              </a:lnSpc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개발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분담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현황</a:t>
            </a:r>
          </a:p>
        </p:txBody>
      </p:sp>
      <p:pic>
        <p:nvPicPr>
          <p:cNvPr name="Picture 23" id="2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6819900" y="8242300"/>
            <a:ext cx="4711700" cy="127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8915400" y="6680200"/>
            <a:ext cx="508000" cy="508000"/>
          </a:xfrm>
          <a:prstGeom prst="rect">
            <a:avLst/>
          </a:prstGeom>
        </p:spPr>
      </p:pic>
      <p:sp>
        <p:nvSpPr>
          <p:cNvPr name="TextBox 25" id="25"/>
          <p:cNvSpPr txBox="true"/>
          <p:nvPr/>
        </p:nvSpPr>
        <p:spPr>
          <a:xfrm rot="0">
            <a:off x="8839200" y="6756400"/>
            <a:ext cx="660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 spc="400">
                <a:solidFill>
                  <a:srgbClr val="000000"/>
                </a:solidFill>
                <a:latin typeface="NanumSquareRoundOTF Bold"/>
              </a:rPr>
              <a:t>5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6781800" y="7620000"/>
            <a:ext cx="4775200" cy="4191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기술적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의사결정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및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성능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개선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6794500" y="8420100"/>
            <a:ext cx="4775200" cy="838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JWT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인증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,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분산락</a:t>
            </a:r>
          </a:p>
          <a:p>
            <a:pPr algn="ctr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Redis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최적화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458700" y="5118100"/>
            <a:ext cx="4711700" cy="12700"/>
          </a:xfrm>
          <a:prstGeom prst="rect">
            <a:avLst/>
          </a:prstGeom>
        </p:spPr>
      </p:pic>
      <p:pic>
        <p:nvPicPr>
          <p:cNvPr name="Picture 29" id="2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554200" y="3556000"/>
            <a:ext cx="508000" cy="508000"/>
          </a:xfrm>
          <a:prstGeom prst="rect">
            <a:avLst/>
          </a:prstGeom>
        </p:spPr>
      </p:pic>
      <p:sp>
        <p:nvSpPr>
          <p:cNvPr name="TextBox 30" id="30"/>
          <p:cNvSpPr txBox="true"/>
          <p:nvPr/>
        </p:nvSpPr>
        <p:spPr>
          <a:xfrm rot="0">
            <a:off x="14478000" y="3632200"/>
            <a:ext cx="660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 spc="400">
                <a:solidFill>
                  <a:srgbClr val="000000"/>
                </a:solidFill>
                <a:latin typeface="NanumSquareRoundOTF Bold"/>
              </a:rPr>
              <a:t>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2420600" y="4495800"/>
            <a:ext cx="4775200" cy="4191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기술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스택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및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시스템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아키텍처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2433300" y="5295900"/>
            <a:ext cx="4775200" cy="838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사용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기술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스택</a:t>
            </a:r>
          </a:p>
          <a:p>
            <a:pPr algn="ctr" lvl="0">
              <a:lnSpc>
                <a:spcPct val="132800"/>
              </a:lnSpc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전체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시스템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구조</a:t>
            </a:r>
          </a:p>
        </p:txBody>
      </p:sp>
      <p:pic>
        <p:nvPicPr>
          <p:cNvPr name="Picture 33" id="3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458700" y="8242300"/>
            <a:ext cx="4711700" cy="12700"/>
          </a:xfrm>
          <a:prstGeom prst="rect">
            <a:avLst/>
          </a:prstGeom>
        </p:spPr>
      </p:pic>
      <p:pic>
        <p:nvPicPr>
          <p:cNvPr name="Picture 34" id="34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554200" y="6680200"/>
            <a:ext cx="508000" cy="508000"/>
          </a:xfrm>
          <a:prstGeom prst="rect">
            <a:avLst/>
          </a:prstGeom>
        </p:spPr>
      </p:pic>
      <p:sp>
        <p:nvSpPr>
          <p:cNvPr name="TextBox 35" id="35"/>
          <p:cNvSpPr txBox="true"/>
          <p:nvPr/>
        </p:nvSpPr>
        <p:spPr>
          <a:xfrm rot="0">
            <a:off x="14478000" y="6756400"/>
            <a:ext cx="660400" cy="3556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000" b="false" i="false" u="none" strike="noStrike" spc="400">
                <a:solidFill>
                  <a:srgbClr val="000000"/>
                </a:solidFill>
                <a:latin typeface="NanumSquareRoundOTF Bold"/>
              </a:rPr>
              <a:t>6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2420600" y="7620000"/>
            <a:ext cx="4775200" cy="4191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트러블슈팅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및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프로젝트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성과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12433300" y="8420100"/>
            <a:ext cx="4775200" cy="838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동시성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제어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,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재고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복원</a:t>
            </a:r>
          </a:p>
          <a:p>
            <a:pPr algn="ctr" lvl="0">
              <a:lnSpc>
                <a:spcPct val="132800"/>
              </a:lnSpc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성능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테스트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결과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EC0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" y="1092200"/>
            <a:ext cx="17272000" cy="8737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12598400" y="-2971800"/>
            <a:ext cx="1206500" cy="8128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611600" y="482600"/>
            <a:ext cx="12065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267200" y="-3251200"/>
            <a:ext cx="1206500" cy="8661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914400" y="952500"/>
            <a:ext cx="23368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 spc="200">
                <a:solidFill>
                  <a:srgbClr val="000000"/>
                </a:solidFill>
                <a:latin typeface="NanumSquareRoundOTF Bold"/>
              </a:rPr>
              <a:t>Miri Company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2006600" y="5918200"/>
            <a:ext cx="14287500" cy="12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4064000" y="5803900"/>
            <a:ext cx="292100" cy="2921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004300" y="5803900"/>
            <a:ext cx="292100" cy="2921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931900" y="5803900"/>
            <a:ext cx="292100" cy="2921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006600" y="3289300"/>
            <a:ext cx="4406900" cy="22479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6934200" y="3289300"/>
            <a:ext cx="4406900" cy="22479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1874500" y="3289300"/>
            <a:ext cx="4406900" cy="2247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2095500" y="3378200"/>
            <a:ext cx="4216400" cy="20701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7035800" y="3390900"/>
            <a:ext cx="4216400" cy="20701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11976100" y="3390900"/>
            <a:ext cx="4216400" cy="20701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889000" y="1917700"/>
            <a:ext cx="16497300" cy="977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프로젝트</a:t>
            </a:r>
            <a:r>
              <a:rPr lang="en-US" sz="5500" b="false" i="false" u="none" strike="noStrike">
                <a:solidFill>
                  <a:srgbClr val="000000"/>
                </a:solidFill>
                <a:latin typeface="establish Retrosans"/>
              </a:rPr>
              <a:t> </a:t>
            </a: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소개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968500" y="7353300"/>
            <a:ext cx="4457700" cy="173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한정판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상품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구매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경쟁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심화</a:t>
            </a:r>
          </a:p>
          <a:p>
            <a:pPr algn="ctr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순간적인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트래픽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폭주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발생</a:t>
            </a:r>
          </a:p>
          <a:p>
            <a:pPr algn="ctr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공정한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구매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기회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제공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필요</a:t>
            </a:r>
          </a:p>
          <a:p>
            <a:pPr algn="ctr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실시간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알림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시스템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요구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968500" y="6718300"/>
            <a:ext cx="4470400" cy="431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기획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배경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및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문제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정의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6908800" y="7353300"/>
            <a:ext cx="4457700" cy="173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Redis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기반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대기열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시스템</a:t>
            </a:r>
          </a:p>
          <a:p>
            <a:pPr algn="ctr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Kafka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이벤트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기반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처리</a:t>
            </a:r>
          </a:p>
          <a:p>
            <a:pPr algn="ctr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SSE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실시간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푸시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알림</a:t>
            </a:r>
          </a:p>
          <a:p>
            <a:pPr algn="ctr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AI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기반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개인화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추천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6908800" y="6718300"/>
            <a:ext cx="4470400" cy="431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해결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방안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1849100" y="7353300"/>
            <a:ext cx="4457700" cy="1282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공정성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: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선착순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대기열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관리</a:t>
            </a:r>
          </a:p>
          <a:p>
            <a:pPr algn="ctr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실시간성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: SSE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즉시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알림</a:t>
            </a:r>
          </a:p>
          <a:p>
            <a:pPr algn="ctr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확장성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: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이벤트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기반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아키텍처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1849100" y="6718300"/>
            <a:ext cx="4470400" cy="431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프로젝트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핵심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가치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EC0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" y="1092200"/>
            <a:ext cx="17272000" cy="8737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12598400" y="-2971800"/>
            <a:ext cx="1206500" cy="8128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611600" y="482600"/>
            <a:ext cx="12065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267200" y="-3251200"/>
            <a:ext cx="1206500" cy="8661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914400" y="952500"/>
            <a:ext cx="23368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 spc="200">
                <a:solidFill>
                  <a:srgbClr val="000000"/>
                </a:solidFill>
                <a:latin typeface="NanumSquareRoundOTF Bold"/>
              </a:rPr>
              <a:t>Miri Company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9000" y="1917700"/>
            <a:ext cx="16497300" cy="977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팀</a:t>
            </a:r>
            <a:r>
              <a:rPr lang="en-US" sz="5500" b="false" i="false" u="none" strike="noStrike">
                <a:solidFill>
                  <a:srgbClr val="000000"/>
                </a:solidFill>
                <a:latin typeface="establish Retrosans"/>
              </a:rPr>
              <a:t> </a:t>
            </a: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소개</a:t>
            </a:r>
            <a:r>
              <a:rPr lang="en-US" sz="5500" b="false" i="false" u="none" strike="noStrike">
                <a:solidFill>
                  <a:srgbClr val="000000"/>
                </a:solidFill>
                <a:latin typeface="establish Retrosans"/>
              </a:rPr>
              <a:t> </a:t>
            </a: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및</a:t>
            </a:r>
            <a:r>
              <a:rPr lang="en-US" sz="5500" b="false" i="false" u="none" strike="noStrike">
                <a:solidFill>
                  <a:srgbClr val="000000"/>
                </a:solidFill>
                <a:latin typeface="establish Retrosans"/>
              </a:rPr>
              <a:t> </a:t>
            </a: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역할</a:t>
            </a:r>
            <a:r>
              <a:rPr lang="en-US" sz="5500" b="false" i="false" u="none" strike="noStrike">
                <a:solidFill>
                  <a:srgbClr val="000000"/>
                </a:solidFill>
                <a:latin typeface="establish Retrosans"/>
              </a:rPr>
              <a:t> </a:t>
            </a: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분담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3289300"/>
            <a:ext cx="7454900" cy="27051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765300" y="4521200"/>
            <a:ext cx="6972300" cy="1282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전체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시스템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아키텍처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설계</a:t>
            </a:r>
          </a:p>
          <a:p>
            <a:pPr algn="ctr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Redis, Kafka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인프라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구성</a:t>
            </a:r>
          </a:p>
          <a:p>
            <a:pPr algn="ctr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대기열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시스템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설계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및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구현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52600" y="3860800"/>
            <a:ext cx="6985000" cy="431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백엔드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아키텍처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설계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372600" y="3289300"/>
            <a:ext cx="7454900" cy="27051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9613900" y="4521200"/>
            <a:ext cx="6972300" cy="1282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RESTful API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엔드포인트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개발</a:t>
            </a:r>
          </a:p>
          <a:p>
            <a:pPr algn="ctr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Spring Security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인증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/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인가</a:t>
            </a:r>
          </a:p>
          <a:p>
            <a:pPr algn="ctr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PortOne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결제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연동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구현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13900" y="3860800"/>
            <a:ext cx="6985000" cy="431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API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개발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및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통합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24000" y="6362700"/>
            <a:ext cx="7454900" cy="27051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765300" y="7607300"/>
            <a:ext cx="6972300" cy="1282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k6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부하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테스트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시나리오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작성</a:t>
            </a:r>
          </a:p>
          <a:p>
            <a:pPr algn="ctr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Redis Lua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스크립트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최적화</a:t>
            </a:r>
          </a:p>
          <a:p>
            <a:pPr algn="ctr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쿼리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성능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개선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및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캐싱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52600" y="6946900"/>
            <a:ext cx="6985000" cy="431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성능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테스트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및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최적화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72600" y="6362700"/>
            <a:ext cx="7454900" cy="27051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9613900" y="7607300"/>
            <a:ext cx="6972300" cy="1282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OpenAI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임베딩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연동</a:t>
            </a:r>
          </a:p>
          <a:p>
            <a:pPr algn="ctr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Pinecone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벡터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검색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구현</a:t>
            </a:r>
          </a:p>
          <a:p>
            <a:pPr algn="ctr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자연어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기반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상품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추천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API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13900" y="6946900"/>
            <a:ext cx="6985000" cy="431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AI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추천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시스템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구현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EC0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" y="1092200"/>
            <a:ext cx="17272000" cy="8737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12598400" y="-2971800"/>
            <a:ext cx="1206500" cy="8128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611600" y="482600"/>
            <a:ext cx="12065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267200" y="-3251200"/>
            <a:ext cx="1206500" cy="8661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914400" y="952500"/>
            <a:ext cx="23368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 spc="200">
                <a:solidFill>
                  <a:srgbClr val="000000"/>
                </a:solidFill>
                <a:latin typeface="NanumSquareRoundOTF Bold"/>
              </a:rPr>
              <a:t>Miri Company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9000" y="1917700"/>
            <a:ext cx="16497300" cy="977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기술</a:t>
            </a:r>
            <a:r>
              <a:rPr lang="en-US" sz="5500" b="false" i="false" u="none" strike="noStrike">
                <a:solidFill>
                  <a:srgbClr val="000000"/>
                </a:solidFill>
                <a:latin typeface="establish Retrosans"/>
              </a:rPr>
              <a:t> </a:t>
            </a: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스택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152900" y="3390900"/>
            <a:ext cx="4762500" cy="1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152900" y="5245100"/>
            <a:ext cx="4762500" cy="1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152900" y="7086600"/>
            <a:ext cx="4762500" cy="127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4152900" y="8940800"/>
            <a:ext cx="4762500" cy="127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460500" y="3568700"/>
            <a:ext cx="2578100" cy="1511300"/>
          </a:xfrm>
          <a:prstGeom prst="rect">
            <a:avLst/>
          </a:prstGeom>
        </p:spPr>
      </p:pic>
      <p:sp>
        <p:nvSpPr>
          <p:cNvPr name="TextBox 13" id="13"/>
          <p:cNvSpPr txBox="true"/>
          <p:nvPr/>
        </p:nvSpPr>
        <p:spPr>
          <a:xfrm rot="0">
            <a:off x="1574800" y="4102100"/>
            <a:ext cx="23368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Backend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4191000" y="3657600"/>
            <a:ext cx="4737100" cy="1346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Spring Boot 3.x</a:t>
            </a:r>
          </a:p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Spring Security</a:t>
            </a:r>
          </a:p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Spring Data JPA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460500" y="5422900"/>
            <a:ext cx="2578100" cy="15113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4191000" y="5524500"/>
            <a:ext cx="4737100" cy="1346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Apache Kafka</a:t>
            </a:r>
          </a:p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Kafka Streams</a:t>
            </a:r>
          </a:p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Event-Driven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60500" y="7264400"/>
            <a:ext cx="2578100" cy="15113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4191000" y="7353300"/>
            <a:ext cx="4737100" cy="1346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PortOne API</a:t>
            </a:r>
          </a:p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결제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/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환불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처리</a:t>
            </a:r>
          </a:p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Webhook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연동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574800" y="5956300"/>
            <a:ext cx="23368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Message Queue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574800" y="7797800"/>
            <a:ext cx="23368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Payment</a:t>
            </a:r>
          </a:p>
        </p:txBody>
      </p:sp>
      <p:pic>
        <p:nvPicPr>
          <p:cNvPr name="Picture 21" id="21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065000" y="3390900"/>
            <a:ext cx="4762500" cy="12700"/>
          </a:xfrm>
          <a:prstGeom prst="rect">
            <a:avLst/>
          </a:prstGeom>
        </p:spPr>
      </p:pic>
      <p:pic>
        <p:nvPicPr>
          <p:cNvPr name="Picture 22" id="22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065000" y="5245100"/>
            <a:ext cx="4762500" cy="12700"/>
          </a:xfrm>
          <a:prstGeom prst="rect">
            <a:avLst/>
          </a:prstGeom>
        </p:spPr>
      </p:pic>
      <p:pic>
        <p:nvPicPr>
          <p:cNvPr name="Picture 23" id="23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065000" y="7086600"/>
            <a:ext cx="4762500" cy="12700"/>
          </a:xfrm>
          <a:prstGeom prst="rect">
            <a:avLst/>
          </a:prstGeom>
        </p:spPr>
      </p:pic>
      <p:pic>
        <p:nvPicPr>
          <p:cNvPr name="Picture 24" id="24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2065000" y="8940800"/>
            <a:ext cx="4762500" cy="12700"/>
          </a:xfrm>
          <a:prstGeom prst="rect">
            <a:avLst/>
          </a:prstGeom>
        </p:spPr>
      </p:pic>
      <p:pic>
        <p:nvPicPr>
          <p:cNvPr name="Picture 25" id="25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372600" y="3568700"/>
            <a:ext cx="2578100" cy="1511300"/>
          </a:xfrm>
          <a:prstGeom prst="rect">
            <a:avLst/>
          </a:prstGeom>
        </p:spPr>
      </p:pic>
      <p:sp>
        <p:nvSpPr>
          <p:cNvPr name="TextBox 26" id="26"/>
          <p:cNvSpPr txBox="true"/>
          <p:nvPr/>
        </p:nvSpPr>
        <p:spPr>
          <a:xfrm rot="0">
            <a:off x="9486900" y="4102100"/>
            <a:ext cx="23368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Database</a:t>
            </a:r>
          </a:p>
        </p:txBody>
      </p:sp>
      <p:sp>
        <p:nvSpPr>
          <p:cNvPr name="TextBox 27" id="27"/>
          <p:cNvSpPr txBox="true"/>
          <p:nvPr/>
        </p:nvSpPr>
        <p:spPr>
          <a:xfrm rot="0">
            <a:off x="12103100" y="3657600"/>
            <a:ext cx="4737100" cy="1346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MySQL 8.0</a:t>
            </a:r>
          </a:p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Redis 7.x</a:t>
            </a:r>
          </a:p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JPA/Hibernate</a:t>
            </a:r>
          </a:p>
        </p:txBody>
      </p:sp>
      <p:pic>
        <p:nvPicPr>
          <p:cNvPr name="Picture 28" id="28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372600" y="5422900"/>
            <a:ext cx="2578100" cy="1511300"/>
          </a:xfrm>
          <a:prstGeom prst="rect">
            <a:avLst/>
          </a:prstGeom>
        </p:spPr>
      </p:pic>
      <p:sp>
        <p:nvSpPr>
          <p:cNvPr name="TextBox 29" id="29"/>
          <p:cNvSpPr txBox="true"/>
          <p:nvPr/>
        </p:nvSpPr>
        <p:spPr>
          <a:xfrm rot="0">
            <a:off x="12103100" y="5524500"/>
            <a:ext cx="4737100" cy="1346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AWS S3</a:t>
            </a:r>
          </a:p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OpenAI API</a:t>
            </a:r>
          </a:p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Pinecone Vector DB</a:t>
            </a:r>
          </a:p>
        </p:txBody>
      </p:sp>
      <p:pic>
        <p:nvPicPr>
          <p:cNvPr name="Picture 30" id="30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9372600" y="7264400"/>
            <a:ext cx="2578100" cy="1511300"/>
          </a:xfrm>
          <a:prstGeom prst="rect">
            <a:avLst/>
          </a:prstGeom>
        </p:spPr>
      </p:pic>
      <p:sp>
        <p:nvSpPr>
          <p:cNvPr name="TextBox 31" id="31"/>
          <p:cNvSpPr txBox="true"/>
          <p:nvPr/>
        </p:nvSpPr>
        <p:spPr>
          <a:xfrm rot="0">
            <a:off x="12103100" y="7353300"/>
            <a:ext cx="4737100" cy="13462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k6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부하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테스트</a:t>
            </a:r>
          </a:p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JUnit 5</a:t>
            </a:r>
          </a:p>
          <a:p>
            <a:pPr algn="l" lvl="0">
              <a:lnSpc>
                <a:spcPct val="1411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Mockito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9474200" y="5956300"/>
            <a:ext cx="23368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Storage &amp; AI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9474200" y="7797800"/>
            <a:ext cx="2336800" cy="4191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Testing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EC0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" y="1092200"/>
            <a:ext cx="17272000" cy="8737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12598400" y="-2971800"/>
            <a:ext cx="1206500" cy="8128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611600" y="482600"/>
            <a:ext cx="12065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267200" y="-3251200"/>
            <a:ext cx="1206500" cy="8661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914400" y="952500"/>
            <a:ext cx="23368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 spc="200">
                <a:solidFill>
                  <a:srgbClr val="000000"/>
                </a:solidFill>
                <a:latin typeface="NanumSquareRoundOTF Bold"/>
              </a:rPr>
              <a:t>Miri Company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33400" y="6578600"/>
            <a:ext cx="17272000" cy="3251200"/>
          </a:xfrm>
          <a:prstGeom prst="rect">
            <a:avLst/>
          </a:prstGeom>
        </p:spPr>
      </p:pic>
      <p:sp>
        <p:nvSpPr>
          <p:cNvPr name="TextBox 8" id="8"/>
          <p:cNvSpPr txBox="true"/>
          <p:nvPr/>
        </p:nvSpPr>
        <p:spPr>
          <a:xfrm rot="0">
            <a:off x="3657600" y="4483100"/>
            <a:ext cx="10985500" cy="173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사용자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요청은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Spring Boot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애플리케이션으로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전달되며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, Spring Security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통해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JWT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기반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인증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/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인가를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수행합니다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.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비즈니스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로직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처리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MySQL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영구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데이터를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저장하고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, Redis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통해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대기열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관리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및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캐싱을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수행합니다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. Kafka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활용하여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이벤트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기반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비동기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처리를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구현하며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, S3, OpenAI, Pinecone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등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외부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서비스와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연동하여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파일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저장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, AI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임베딩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,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벡터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검색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기능을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제공합니다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.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89000" y="1917700"/>
            <a:ext cx="16497300" cy="977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시스템</a:t>
            </a:r>
            <a:r>
              <a:rPr lang="en-US" sz="5500" b="false" i="false" u="none" strike="noStrike">
                <a:solidFill>
                  <a:srgbClr val="000000"/>
                </a:solidFill>
                <a:latin typeface="establish Retrosans"/>
              </a:rPr>
              <a:t> </a:t>
            </a: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아키텍처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644900" y="3644900"/>
            <a:ext cx="10998200" cy="4826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700" b="false" i="false" u="none" strike="noStrike" spc="-100">
                <a:solidFill>
                  <a:srgbClr val="2FA599"/>
                </a:solidFill>
                <a:ea typeface="NanumSquareRoundOTF Bold"/>
              </a:rPr>
              <a:t>클라이언트</a:t>
            </a:r>
            <a:r>
              <a:rPr lang="en-US" sz="2700" b="false" i="false" u="none" strike="noStrike" spc="-100">
                <a:solidFill>
                  <a:srgbClr val="2FA599"/>
                </a:solidFill>
                <a:latin typeface="NanumSquareRoundOTF Bold"/>
              </a:rPr>
              <a:t> → Spring Boot → </a:t>
            </a:r>
            <a:r>
              <a:rPr lang="ko-KR" sz="2700" b="false" i="false" u="none" strike="noStrike" spc="-100">
                <a:solidFill>
                  <a:srgbClr val="2FA599"/>
                </a:solidFill>
                <a:ea typeface="NanumSquareRoundOTF Bold"/>
              </a:rPr>
              <a:t>데이터</a:t>
            </a:r>
            <a:r>
              <a:rPr lang="en-US" sz="2700" b="false" i="false" u="none" strike="noStrike" spc="-100">
                <a:solidFill>
                  <a:srgbClr val="2FA599"/>
                </a:solidFill>
                <a:latin typeface="NanumSquareRoundOTF Bold"/>
              </a:rPr>
              <a:t> </a:t>
            </a:r>
            <a:r>
              <a:rPr lang="ko-KR" sz="2700" b="false" i="false" u="none" strike="noStrike" spc="-100">
                <a:solidFill>
                  <a:srgbClr val="2FA599"/>
                </a:solidFill>
                <a:ea typeface="NanumSquareRoundOTF Bold"/>
              </a:rPr>
              <a:t>계층</a:t>
            </a:r>
            <a:r>
              <a:rPr lang="en-US" sz="2700" b="false" i="false" u="none" strike="noStrike" spc="-100">
                <a:solidFill>
                  <a:srgbClr val="2FA599"/>
                </a:solidFill>
                <a:latin typeface="NanumSquareRoundOTF Bold"/>
              </a:rPr>
              <a:t> → </a:t>
            </a:r>
            <a:r>
              <a:rPr lang="ko-KR" sz="2700" b="false" i="false" u="none" strike="noStrike" spc="-100">
                <a:solidFill>
                  <a:srgbClr val="2FA599"/>
                </a:solidFill>
                <a:ea typeface="NanumSquareRoundOTF Bold"/>
              </a:rPr>
              <a:t>외부</a:t>
            </a:r>
            <a:r>
              <a:rPr lang="en-US" sz="2700" b="false" i="false" u="none" strike="noStrike" spc="-100">
                <a:solidFill>
                  <a:srgbClr val="2FA599"/>
                </a:solidFill>
                <a:latin typeface="NanumSquareRoundOTF Bold"/>
              </a:rPr>
              <a:t> </a:t>
            </a:r>
            <a:r>
              <a:rPr lang="ko-KR" sz="2700" b="false" i="false" u="none" strike="noStrike" spc="-100">
                <a:solidFill>
                  <a:srgbClr val="2FA599"/>
                </a:solidFill>
                <a:ea typeface="NanumSquareRoundOTF Bold"/>
              </a:rPr>
              <a:t>서비스</a:t>
            </a:r>
            <a:r>
              <a:rPr lang="en-US" sz="2700" b="false" i="false" u="none" strike="noStrike" spc="-100">
                <a:solidFill>
                  <a:srgbClr val="2FA599"/>
                </a:solidFill>
                <a:latin typeface="NanumSquareRoundOTF Bold"/>
              </a:rPr>
              <a:t> </a:t>
            </a:r>
            <a:r>
              <a:rPr lang="ko-KR" sz="2700" b="false" i="false" u="none" strike="noStrike" spc="-100">
                <a:solidFill>
                  <a:srgbClr val="2FA599"/>
                </a:solidFill>
                <a:ea typeface="NanumSquareRoundOTF Bold"/>
              </a:rPr>
              <a:t>연동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2413000" y="8128000"/>
            <a:ext cx="6515100" cy="1282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MySQL: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주문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,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상품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,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사용자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정보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저장</a:t>
            </a:r>
          </a:p>
          <a:p>
            <a:pPr algn="l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Redis: ZSET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대기열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,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분산락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,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캐시</a:t>
            </a:r>
          </a:p>
          <a:p>
            <a:pPr algn="l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낙관적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락으로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동시성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제어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2413000" y="7429500"/>
            <a:ext cx="6527800" cy="4826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700" b="false" i="false" u="none" strike="noStrike">
                <a:solidFill>
                  <a:srgbClr val="000000"/>
                </a:solidFill>
                <a:ea typeface="NanumSquareRoundOTF Bold"/>
              </a:rPr>
              <a:t>데이터</a:t>
            </a:r>
            <a:r>
              <a:rPr lang="en-US" sz="27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700" b="false" i="false" u="none" strike="noStrike">
                <a:solidFill>
                  <a:srgbClr val="000000"/>
                </a:solidFill>
                <a:ea typeface="NanumSquareRoundOTF Bold"/>
              </a:rPr>
              <a:t>저장</a:t>
            </a:r>
            <a:r>
              <a:rPr lang="en-US" sz="27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700" b="false" i="false" u="none" strike="noStrike">
                <a:solidFill>
                  <a:srgbClr val="000000"/>
                </a:solidFill>
                <a:ea typeface="NanumSquareRoundOTF Bold"/>
              </a:rPr>
              <a:t>및</a:t>
            </a:r>
            <a:r>
              <a:rPr lang="en-US" sz="27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700" b="false" i="false" u="none" strike="noStrike">
                <a:solidFill>
                  <a:srgbClr val="000000"/>
                </a:solidFill>
                <a:ea typeface="NanumSquareRoundOTF Bold"/>
              </a:rPr>
              <a:t>캐싱</a:t>
            </a:r>
            <a:r>
              <a:rPr lang="en-US" sz="27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700" b="false" i="false" u="none" strike="noStrike">
                <a:solidFill>
                  <a:srgbClr val="000000"/>
                </a:solidFill>
                <a:ea typeface="NanumSquareRoundOTF Bold"/>
              </a:rPr>
              <a:t>계층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423400" y="8128000"/>
            <a:ext cx="6515100" cy="1282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Kafka: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주문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,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결제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,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알림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이벤트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발행</a:t>
            </a:r>
          </a:p>
          <a:p>
            <a:pPr algn="l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Outbox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패턴으로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데이터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일관성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보장</a:t>
            </a:r>
          </a:p>
          <a:p>
            <a:pPr algn="l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S3, OpenAI, Pinecone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연동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423400" y="7429500"/>
            <a:ext cx="6527800" cy="4826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700" b="false" i="false" u="none" strike="noStrike">
                <a:solidFill>
                  <a:srgbClr val="000000"/>
                </a:solidFill>
                <a:ea typeface="NanumSquareRoundOTF Bold"/>
              </a:rPr>
              <a:t>이벤트</a:t>
            </a:r>
            <a:r>
              <a:rPr lang="en-US" sz="27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700" b="false" i="false" u="none" strike="noStrike">
                <a:solidFill>
                  <a:srgbClr val="000000"/>
                </a:solidFill>
                <a:ea typeface="NanumSquareRoundOTF Bold"/>
              </a:rPr>
              <a:t>기반</a:t>
            </a:r>
            <a:r>
              <a:rPr lang="en-US" sz="27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700" b="false" i="false" u="none" strike="noStrike">
                <a:solidFill>
                  <a:srgbClr val="000000"/>
                </a:solidFill>
                <a:ea typeface="NanumSquareRoundOTF Bold"/>
              </a:rPr>
              <a:t>비동기</a:t>
            </a:r>
            <a:r>
              <a:rPr lang="en-US" sz="27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700" b="false" i="false" u="none" strike="noStrike">
                <a:solidFill>
                  <a:srgbClr val="000000"/>
                </a:solidFill>
                <a:ea typeface="NanumSquareRoundOTF Bold"/>
              </a:rPr>
              <a:t>처리</a:t>
            </a:r>
            <a:r>
              <a:rPr lang="en-US" sz="27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700" b="false" i="false" u="none" strike="noStrike">
                <a:solidFill>
                  <a:srgbClr val="000000"/>
                </a:solidFill>
                <a:ea typeface="NanumSquareRoundOTF Bold"/>
              </a:rPr>
              <a:t>및</a:t>
            </a:r>
            <a:r>
              <a:rPr lang="en-US" sz="27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700" b="false" i="false" u="none" strike="noStrike">
                <a:solidFill>
                  <a:srgbClr val="000000"/>
                </a:solidFill>
                <a:ea typeface="NanumSquareRoundOTF Bold"/>
              </a:rPr>
              <a:t>외부</a:t>
            </a:r>
            <a:r>
              <a:rPr lang="en-US" sz="27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700" b="false" i="false" u="none" strike="noStrike">
                <a:solidFill>
                  <a:srgbClr val="000000"/>
                </a:solidFill>
                <a:ea typeface="NanumSquareRoundOTF Bold"/>
              </a:rPr>
              <a:t>연동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EC0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" y="1092200"/>
            <a:ext cx="17272000" cy="8737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12598400" y="-2971800"/>
            <a:ext cx="1206500" cy="8128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611600" y="482600"/>
            <a:ext cx="12065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267200" y="-3251200"/>
            <a:ext cx="1206500" cy="8661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914400" y="952500"/>
            <a:ext cx="23368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 spc="200">
                <a:solidFill>
                  <a:srgbClr val="000000"/>
                </a:solidFill>
                <a:latin typeface="NanumSquareRoundOTF Bold"/>
              </a:rPr>
              <a:t>Miri Company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33400" y="6578600"/>
            <a:ext cx="17272000" cy="3251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11300" y="3098800"/>
            <a:ext cx="3098800" cy="3098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717800" y="3683000"/>
            <a:ext cx="698500" cy="698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677900" y="3098800"/>
            <a:ext cx="3098800" cy="3098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871700" y="3683000"/>
            <a:ext cx="698500" cy="698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626600" y="3098800"/>
            <a:ext cx="3098800" cy="3098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820400" y="3695700"/>
            <a:ext cx="698500" cy="698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575300" y="3098800"/>
            <a:ext cx="3098800" cy="3098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769100" y="3683000"/>
            <a:ext cx="698500" cy="6985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889000" y="1917700"/>
            <a:ext cx="16497300" cy="977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핵심</a:t>
            </a:r>
            <a:r>
              <a:rPr lang="en-US" sz="5500" b="false" i="false" u="none" strike="noStrike">
                <a:solidFill>
                  <a:srgbClr val="000000"/>
                </a:solidFill>
                <a:latin typeface="establish Retrosans"/>
              </a:rPr>
              <a:t> </a:t>
            </a: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기능</a:t>
            </a:r>
            <a:r>
              <a:rPr lang="en-US" sz="5500" b="false" i="false" u="none" strike="noStrike">
                <a:solidFill>
                  <a:srgbClr val="000000"/>
                </a:solidFill>
                <a:latin typeface="establish Retrosans"/>
              </a:rPr>
              <a:t> 1: </a:t>
            </a: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드랍</a:t>
            </a:r>
            <a:r>
              <a:rPr lang="en-US" sz="5500" b="false" i="false" u="none" strike="noStrike">
                <a:solidFill>
                  <a:srgbClr val="000000"/>
                </a:solidFill>
                <a:latin typeface="establish Retrosans"/>
              </a:rPr>
              <a:t> &amp; </a:t>
            </a: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대기열</a:t>
            </a:r>
            <a:r>
              <a:rPr lang="en-US" sz="5500" b="false" i="false" u="none" strike="noStrike">
                <a:solidFill>
                  <a:srgbClr val="000000"/>
                </a:solidFill>
                <a:latin typeface="establish Retrosans"/>
              </a:rPr>
              <a:t> </a:t>
            </a: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시스템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52600" y="4546600"/>
            <a:ext cx="26162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Redis ZSET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대기열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85900" y="6921500"/>
            <a:ext cx="3149600" cy="2349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Sorted Set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으로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대기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순서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관리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score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기반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순차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진입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제어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TTL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설정으로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자동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만료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실시간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대기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순위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조회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가능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803900" y="4546600"/>
            <a:ext cx="26162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admissionToken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발급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55200" y="4546600"/>
            <a:ext cx="2616200" cy="8636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Kafka Delay Queue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919200" y="4546600"/>
            <a:ext cx="26162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HOLD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패턴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537200" y="6921500"/>
            <a:ext cx="3149600" cy="2349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대기열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통과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토큰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발급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토큰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검증으로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구매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권한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확인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만료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시간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설정으로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보안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강화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중복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진입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방지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메커니즘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01200" y="6921500"/>
            <a:ext cx="3149600" cy="156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지연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메시지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처리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구현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대기열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순서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조정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자동화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비동기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이벤트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기반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처리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시스템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부하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분산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효과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652500" y="6921500"/>
            <a:ext cx="3149600" cy="195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재고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선점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및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임시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보류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결제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완료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재고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확보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타임아웃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자동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복원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동시성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제어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및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공정성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보장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EC0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" y="1092200"/>
            <a:ext cx="17272000" cy="8737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12598400" y="-2971800"/>
            <a:ext cx="1206500" cy="8128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611600" y="482600"/>
            <a:ext cx="12065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267200" y="-3251200"/>
            <a:ext cx="1206500" cy="8661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914400" y="952500"/>
            <a:ext cx="23368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 spc="200">
                <a:solidFill>
                  <a:srgbClr val="000000"/>
                </a:solidFill>
                <a:latin typeface="NanumSquareRoundOTF Bold"/>
              </a:rPr>
              <a:t>Miri Company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155700" y="3289300"/>
            <a:ext cx="7848600" cy="57404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283700" y="3289300"/>
            <a:ext cx="7848600" cy="57404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58900" y="3505200"/>
            <a:ext cx="3416300" cy="52959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474200" y="3505200"/>
            <a:ext cx="3416300" cy="52959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889000" y="1917700"/>
            <a:ext cx="16497300" cy="977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핵심</a:t>
            </a:r>
            <a:r>
              <a:rPr lang="en-US" sz="5500" b="false" i="false" u="none" strike="noStrike">
                <a:solidFill>
                  <a:srgbClr val="000000"/>
                </a:solidFill>
                <a:latin typeface="establish Retrosans"/>
              </a:rPr>
              <a:t> </a:t>
            </a: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기능</a:t>
            </a:r>
            <a:r>
              <a:rPr lang="en-US" sz="5500" b="false" i="false" u="none" strike="noStrike">
                <a:solidFill>
                  <a:srgbClr val="000000"/>
                </a:solidFill>
                <a:latin typeface="establish Retrosans"/>
              </a:rPr>
              <a:t> 2: </a:t>
            </a: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위시리스트</a:t>
            </a:r>
            <a:r>
              <a:rPr lang="en-US" sz="5500" b="false" i="false" u="none" strike="noStrike">
                <a:solidFill>
                  <a:srgbClr val="000000"/>
                </a:solidFill>
                <a:latin typeface="establish Retrosans"/>
              </a:rPr>
              <a:t> &amp; SSE </a:t>
            </a: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실시간</a:t>
            </a:r>
            <a:r>
              <a:rPr lang="en-US" sz="5500" b="false" i="false" u="none" strike="noStrike">
                <a:solidFill>
                  <a:srgbClr val="000000"/>
                </a:solidFill>
                <a:latin typeface="establish Retrosans"/>
              </a:rPr>
              <a:t> </a:t>
            </a: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알림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05400" y="5295900"/>
            <a:ext cx="3657600" cy="440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사용자가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관심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상품을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위시리스트에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추가</a:t>
            </a:r>
          </a:p>
          <a:p>
            <a:pPr algn="l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MySQL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위시리스트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데이터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영구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저장</a:t>
            </a:r>
          </a:p>
          <a:p>
            <a:pPr algn="l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드랍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상품과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사용자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관계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매핑</a:t>
            </a:r>
          </a:p>
          <a:p>
            <a:pPr algn="l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드랍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상태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변경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감지를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위한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이벤트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리스너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등록</a:t>
            </a:r>
          </a:p>
          <a:p>
            <a:pPr algn="l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위시리스트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조회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및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관리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API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제공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5105400" y="4660900"/>
            <a:ext cx="3657600" cy="431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위시리스트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등록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및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저장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3233400" y="5295900"/>
            <a:ext cx="3657600" cy="4406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드랍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상태가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ACTIVE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전환되면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이벤트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발생</a:t>
            </a:r>
          </a:p>
          <a:p>
            <a:pPr algn="l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해당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상품을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위시리스트에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등록한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모든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사용자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조회</a:t>
            </a:r>
          </a:p>
          <a:p>
            <a:pPr algn="l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Server-Sent Events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연결을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통해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실시간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알림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전송</a:t>
            </a:r>
          </a:p>
          <a:p>
            <a:pPr algn="l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클라이언트는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HTTP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스트림으로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알림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수신</a:t>
            </a:r>
          </a:p>
          <a:p>
            <a:pPr algn="l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네트워크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재연결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자동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복구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지원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3233400" y="4660900"/>
            <a:ext cx="3657600" cy="431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SSE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실시간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푸시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알림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EC0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" y="1092200"/>
            <a:ext cx="17272000" cy="8737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12598400" y="-2971800"/>
            <a:ext cx="1206500" cy="8128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611600" y="482600"/>
            <a:ext cx="12065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267200" y="-3251200"/>
            <a:ext cx="1206500" cy="8661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914400" y="952500"/>
            <a:ext cx="23368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 spc="200">
                <a:solidFill>
                  <a:srgbClr val="000000"/>
                </a:solidFill>
                <a:latin typeface="NanumSquareRoundOTF Bold"/>
              </a:rPr>
              <a:t>Miri Company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740400" y="7645400"/>
            <a:ext cx="1282700" cy="12827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7175500" y="6057900"/>
            <a:ext cx="1282700" cy="1282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8597900" y="4457700"/>
            <a:ext cx="1282700" cy="12827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0033000" y="2870200"/>
            <a:ext cx="1282700" cy="1282700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1607800" y="2819400"/>
            <a:ext cx="5753100" cy="431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주문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생성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및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재고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확인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1607800" y="3390900"/>
            <a:ext cx="57531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사용자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주문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요청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접수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재고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수량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실시간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검증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및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HOLD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패턴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적용</a:t>
            </a:r>
          </a:p>
        </p:txBody>
      </p:sp>
      <p:pic>
        <p:nvPicPr>
          <p:cNvPr name="Picture 13" id="13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7518400" y="6400800"/>
            <a:ext cx="596900" cy="5969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0375900" y="3213100"/>
            <a:ext cx="596900" cy="5969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8940800" y="4800600"/>
            <a:ext cx="596900" cy="596900"/>
          </a:xfrm>
          <a:prstGeom prst="rect">
            <a:avLst/>
          </a:prstGeom>
        </p:spPr>
      </p:pic>
      <p:pic>
        <p:nvPicPr>
          <p:cNvPr name="Picture 16" id="16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083300" y="7988300"/>
            <a:ext cx="596900" cy="596900"/>
          </a:xfrm>
          <a:prstGeom prst="rect">
            <a:avLst/>
          </a:prstGeom>
        </p:spPr>
      </p:pic>
      <p:sp>
        <p:nvSpPr>
          <p:cNvPr name="TextBox 17" id="17"/>
          <p:cNvSpPr txBox="true"/>
          <p:nvPr/>
        </p:nvSpPr>
        <p:spPr>
          <a:xfrm rot="0">
            <a:off x="10185400" y="4445000"/>
            <a:ext cx="5753100" cy="431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PortOne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결제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준비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185400" y="5029200"/>
            <a:ext cx="57531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PortOne API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호출로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결제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세션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생성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결제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금액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및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주문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정보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검증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8763000" y="5994400"/>
            <a:ext cx="5753100" cy="431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결제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확정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 &amp; Outbox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8763000" y="6578600"/>
            <a:ext cx="57531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결제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완료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Outbox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테이블에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이벤트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저장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Kafka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이벤트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발행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및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후속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처리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340600" y="7581900"/>
            <a:ext cx="5753100" cy="431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환불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및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재고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복원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7340600" y="8166100"/>
            <a:ext cx="5753100" cy="787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결제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실패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또는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취소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환불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처리</a:t>
            </a:r>
          </a:p>
          <a:p>
            <a:pPr algn="l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재고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자동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복원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및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주문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상태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업데이트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1384300" y="4241800"/>
            <a:ext cx="5270500" cy="2628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PortOne API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통해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안전하고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신뢰성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있는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결제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프로세스를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구현했습니다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.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결제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준비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단계에서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주문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정보를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검증하고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,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결제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확정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Outbox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패턴으로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이벤트를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안정적으로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발행하며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,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결제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실패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재고를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자동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복원하여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데이터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정합성을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보장합니다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46200" y="2120900"/>
            <a:ext cx="6908800" cy="18923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07899"/>
              </a:lnSpc>
            </a:pP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핵심</a:t>
            </a:r>
            <a:r>
              <a:rPr lang="en-US" sz="5500" b="false" i="false" u="none" strike="noStrike">
                <a:solidFill>
                  <a:srgbClr val="000000"/>
                </a:solidFill>
                <a:latin typeface="establish Retrosans"/>
              </a:rPr>
              <a:t> </a:t>
            </a: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기능</a:t>
            </a:r>
            <a:r>
              <a:rPr lang="en-US" sz="5500" b="false" i="false" u="none" strike="noStrike">
                <a:solidFill>
                  <a:srgbClr val="000000"/>
                </a:solidFill>
                <a:latin typeface="establish Retrosans"/>
              </a:rPr>
              <a:t> 3: </a:t>
            </a: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주문</a:t>
            </a:r>
            <a:r>
              <a:rPr lang="en-US" sz="5500" b="false" i="false" u="none" strike="noStrike">
                <a:solidFill>
                  <a:srgbClr val="000000"/>
                </a:solidFill>
                <a:latin typeface="establish Retrosans"/>
              </a:rPr>
              <a:t> &amp; </a:t>
            </a: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결제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EC0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" y="1092200"/>
            <a:ext cx="17272000" cy="8737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12598400" y="-2971800"/>
            <a:ext cx="1206500" cy="8128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611600" y="482600"/>
            <a:ext cx="12065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267200" y="-3251200"/>
            <a:ext cx="1206500" cy="8661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914400" y="952500"/>
            <a:ext cx="23368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 spc="200">
                <a:solidFill>
                  <a:srgbClr val="000000"/>
                </a:solidFill>
                <a:latin typeface="NanumSquareRoundOTF Bold"/>
              </a:rPr>
              <a:t>Miri Company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533400" y="6578600"/>
            <a:ext cx="17272000" cy="32512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11300" y="3098800"/>
            <a:ext cx="3098800" cy="30988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2717800" y="3683000"/>
            <a:ext cx="698500" cy="698500"/>
          </a:xfrm>
          <a:prstGeom prst="rect">
            <a:avLst/>
          </a:prstGeom>
        </p:spPr>
      </p:pic>
      <p:pic>
        <p:nvPicPr>
          <p:cNvPr name="Picture 10" id="10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677900" y="3098800"/>
            <a:ext cx="3098800" cy="3098800"/>
          </a:xfrm>
          <a:prstGeom prst="rect">
            <a:avLst/>
          </a:prstGeom>
        </p:spPr>
      </p:pic>
      <p:pic>
        <p:nvPicPr>
          <p:cNvPr name="Picture 11" id="11"/>
          <p:cNvPicPr>
            <a:picLocks noChangeAspect="true"/>
          </p:cNvPicPr>
          <p:nvPr/>
        </p:nvPicPr>
        <p:blipFill>
          <a:blip r:embed="rId9"/>
          <a:stretch>
            <a:fillRect/>
          </a:stretch>
        </p:blipFill>
        <p:spPr>
          <a:xfrm rot="0">
            <a:off x="14871700" y="3683000"/>
            <a:ext cx="698500" cy="698500"/>
          </a:xfrm>
          <a:prstGeom prst="rect">
            <a:avLst/>
          </a:prstGeom>
        </p:spPr>
      </p:pic>
      <p:pic>
        <p:nvPicPr>
          <p:cNvPr name="Picture 12" id="12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626600" y="3098800"/>
            <a:ext cx="3098800" cy="3098800"/>
          </a:xfrm>
          <a:prstGeom prst="rect">
            <a:avLst/>
          </a:prstGeom>
        </p:spPr>
      </p:pic>
      <p:pic>
        <p:nvPicPr>
          <p:cNvPr name="Picture 13" id="13"/>
          <p:cNvPicPr>
            <a:picLocks noChangeAspect="true"/>
          </p:cNvPicPr>
          <p:nvPr/>
        </p:nvPicPr>
        <p:blipFill>
          <a:blip r:embed="rId10"/>
          <a:stretch>
            <a:fillRect/>
          </a:stretch>
        </p:blipFill>
        <p:spPr>
          <a:xfrm rot="0">
            <a:off x="10820400" y="3695700"/>
            <a:ext cx="698500" cy="698500"/>
          </a:xfrm>
          <a:prstGeom prst="rect">
            <a:avLst/>
          </a:prstGeom>
        </p:spPr>
      </p:pic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5575300" y="3098800"/>
            <a:ext cx="3098800" cy="3098800"/>
          </a:xfrm>
          <a:prstGeom prst="rect">
            <a:avLst/>
          </a:prstGeom>
        </p:spPr>
      </p:pic>
      <p:pic>
        <p:nvPicPr>
          <p:cNvPr name="Picture 15" id="15"/>
          <p:cNvPicPr>
            <a:picLocks noChangeAspect="true"/>
          </p:cNvPicPr>
          <p:nvPr/>
        </p:nvPicPr>
        <p:blipFill>
          <a:blip r:embed="rId11"/>
          <a:stretch>
            <a:fillRect/>
          </a:stretch>
        </p:blipFill>
        <p:spPr>
          <a:xfrm rot="0">
            <a:off x="6769100" y="3683000"/>
            <a:ext cx="698500" cy="6985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889000" y="1917700"/>
            <a:ext cx="16497300" cy="977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핵심</a:t>
            </a:r>
            <a:r>
              <a:rPr lang="en-US" sz="5500" b="false" i="false" u="none" strike="noStrike">
                <a:solidFill>
                  <a:srgbClr val="000000"/>
                </a:solidFill>
                <a:latin typeface="establish Retrosans"/>
              </a:rPr>
              <a:t> </a:t>
            </a: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기능</a:t>
            </a:r>
            <a:r>
              <a:rPr lang="en-US" sz="5500" b="false" i="false" u="none" strike="noStrike">
                <a:solidFill>
                  <a:srgbClr val="000000"/>
                </a:solidFill>
                <a:latin typeface="establish Retrosans"/>
              </a:rPr>
              <a:t> 4: AI </a:t>
            </a: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기반</a:t>
            </a:r>
            <a:r>
              <a:rPr lang="en-US" sz="5500" b="false" i="false" u="none" strike="noStrike">
                <a:solidFill>
                  <a:srgbClr val="000000"/>
                </a:solidFill>
                <a:latin typeface="establish Retrosans"/>
              </a:rPr>
              <a:t> </a:t>
            </a: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상품</a:t>
            </a:r>
            <a:r>
              <a:rPr lang="en-US" sz="5500" b="false" i="false" u="none" strike="noStrike">
                <a:solidFill>
                  <a:srgbClr val="000000"/>
                </a:solidFill>
                <a:latin typeface="establish Retrosans"/>
              </a:rPr>
              <a:t> </a:t>
            </a: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추천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752600" y="4546600"/>
            <a:ext cx="26162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자연어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질의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입력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85900" y="6921500"/>
            <a:ext cx="3149600" cy="23495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사용자가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자연어로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상품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검색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'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편안한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운동화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추천해줘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'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형태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텍스트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기반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질의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처리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다양한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표현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방식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지원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5803900" y="4546600"/>
            <a:ext cx="26162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OpenAI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임베딩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생성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9855200" y="4546600"/>
            <a:ext cx="26162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Pinecone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벡터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검색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13919200" y="4546600"/>
            <a:ext cx="2616200" cy="431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추천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상품</a:t>
            </a:r>
            <a:r>
              <a:rPr lang="en-US" sz="2400" b="false" i="false" u="none" strike="noStrike" spc="-100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 spc="-100">
                <a:solidFill>
                  <a:srgbClr val="000000"/>
                </a:solidFill>
                <a:ea typeface="NanumSquareRoundOTF Bold"/>
              </a:rPr>
              <a:t>응답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5537200" y="6921500"/>
            <a:ext cx="3149600" cy="19558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OpenAI API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텍스트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임베딩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벡터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형태로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의미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변환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고차원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벡터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공간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매핑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의미적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유사도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계산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준비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9601200" y="6921500"/>
            <a:ext cx="3149600" cy="156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Pinecone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벡터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DB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조회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유사도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기반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상품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검색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빠른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검색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성능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제공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확장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가능한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벡터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저장소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3652500" y="6921500"/>
            <a:ext cx="3149600" cy="15621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유사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상품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리스트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반환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관련도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높은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순서로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정렬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상품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상세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정보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포함</a:t>
            </a:r>
          </a:p>
          <a:p>
            <a:pPr algn="ctr" lvl="0">
              <a:lnSpc>
                <a:spcPct val="116199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개인화된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추천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결과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제공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EC0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" y="1092200"/>
            <a:ext cx="17272000" cy="8737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12598400" y="-2971800"/>
            <a:ext cx="1206500" cy="8128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611600" y="482600"/>
            <a:ext cx="12065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267200" y="-3251200"/>
            <a:ext cx="1206500" cy="8661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914400" y="952500"/>
            <a:ext cx="23368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 spc="200">
                <a:solidFill>
                  <a:srgbClr val="000000"/>
                </a:solidFill>
                <a:latin typeface="NanumSquareRoundOTF Bold"/>
              </a:rPr>
              <a:t>Miri Company</a:t>
            </a:r>
          </a:p>
        </p:txBody>
      </p:sp>
      <p:pic>
        <p:nvPicPr>
          <p:cNvPr name="Picture 7" id="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333500" y="7594600"/>
            <a:ext cx="15608300" cy="1511300"/>
          </a:xfrm>
          <a:prstGeom prst="rect">
            <a:avLst/>
          </a:prstGeom>
        </p:spPr>
      </p:pic>
      <p:pic>
        <p:nvPicPr>
          <p:cNvPr name="Picture 8" id="8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333500" y="3289300"/>
            <a:ext cx="7569200" cy="3949700"/>
          </a:xfrm>
          <a:prstGeom prst="rect">
            <a:avLst/>
          </a:prstGeom>
        </p:spPr>
      </p:pic>
      <p:pic>
        <p:nvPicPr>
          <p:cNvPr name="Picture 9" id="9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372600" y="3289300"/>
            <a:ext cx="7569200" cy="3949700"/>
          </a:xfrm>
          <a:prstGeom prst="rect">
            <a:avLst/>
          </a:prstGeom>
        </p:spPr>
      </p:pic>
      <p:sp>
        <p:nvSpPr>
          <p:cNvPr name="TextBox 10" id="10"/>
          <p:cNvSpPr txBox="true"/>
          <p:nvPr/>
        </p:nvSpPr>
        <p:spPr>
          <a:xfrm rot="0">
            <a:off x="889000" y="1917700"/>
            <a:ext cx="16497300" cy="977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기술적</a:t>
            </a:r>
            <a:r>
              <a:rPr lang="en-US" sz="5500" b="false" i="false" u="none" strike="noStrike">
                <a:solidFill>
                  <a:srgbClr val="000000"/>
                </a:solidFill>
                <a:latin typeface="establish Retrosans"/>
              </a:rPr>
              <a:t> </a:t>
            </a: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의사결정</a:t>
            </a:r>
            <a:r>
              <a:rPr lang="en-US" sz="5500" b="false" i="false" u="none" strike="noStrike">
                <a:solidFill>
                  <a:srgbClr val="000000"/>
                </a:solidFill>
                <a:latin typeface="establish Retrosans"/>
              </a:rPr>
              <a:t> </a:t>
            </a: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및</a:t>
            </a:r>
            <a:r>
              <a:rPr lang="en-US" sz="5500" b="false" i="false" u="none" strike="noStrike">
                <a:solidFill>
                  <a:srgbClr val="000000"/>
                </a:solidFill>
                <a:latin typeface="establish Retrosans"/>
              </a:rPr>
              <a:t> </a:t>
            </a: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성능</a:t>
            </a:r>
            <a:r>
              <a:rPr lang="en-US" sz="5500" b="false" i="false" u="none" strike="noStrike">
                <a:solidFill>
                  <a:srgbClr val="000000"/>
                </a:solidFill>
                <a:latin typeface="establish Retrosans"/>
              </a:rPr>
              <a:t> </a:t>
            </a: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개선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1625600" y="3543300"/>
            <a:ext cx="762000" cy="7620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1600200" y="3683000"/>
            <a:ext cx="8128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800" b="false" i="false" u="none" strike="noStrike" spc="600">
                <a:solidFill>
                  <a:srgbClr val="000000"/>
                </a:solidFill>
                <a:latin typeface="NanumSquareRoundOTF Bold"/>
              </a:rPr>
              <a:t>1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2565400" y="4546600"/>
            <a:ext cx="6108700" cy="17399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JWT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기반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인증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: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세션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서버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부담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감소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,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수평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확장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용이</a:t>
            </a:r>
          </a:p>
          <a:p>
            <a:pPr algn="l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Redis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분산락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+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낙관적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락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: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동시성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제어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및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재고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정합성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보장</a:t>
            </a:r>
          </a:p>
          <a:p>
            <a:pPr algn="l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Fail-Close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전략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: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시스템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장애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안전하게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요청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차단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2565400" y="3911600"/>
            <a:ext cx="6108700" cy="431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기술적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의사결정</a:t>
            </a:r>
          </a:p>
        </p:txBody>
      </p:sp>
      <p:pic>
        <p:nvPicPr>
          <p:cNvPr name="Picture 15" id="15"/>
          <p:cNvPicPr>
            <a:picLocks noChangeAspect="true"/>
          </p:cNvPicPr>
          <p:nvPr/>
        </p:nvPicPr>
        <p:blipFill>
          <a:blip r:embed="rId8"/>
          <a:stretch>
            <a:fillRect/>
          </a:stretch>
        </p:blipFill>
        <p:spPr>
          <a:xfrm rot="0">
            <a:off x="9702800" y="3543300"/>
            <a:ext cx="762000" cy="762000"/>
          </a:xfrm>
          <a:prstGeom prst="rect">
            <a:avLst/>
          </a:prstGeom>
        </p:spPr>
      </p:pic>
      <p:sp>
        <p:nvSpPr>
          <p:cNvPr name="TextBox 16" id="16"/>
          <p:cNvSpPr txBox="true"/>
          <p:nvPr/>
        </p:nvSpPr>
        <p:spPr>
          <a:xfrm rot="0">
            <a:off x="9690100" y="3683000"/>
            <a:ext cx="812800" cy="4953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en-US" sz="2800" b="false" i="false" u="none" strike="noStrike" spc="600">
                <a:solidFill>
                  <a:srgbClr val="000000"/>
                </a:solidFill>
                <a:latin typeface="NanumSquareRoundOTF Bold"/>
              </a:rPr>
              <a:t>2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10655300" y="4546600"/>
            <a:ext cx="6108700" cy="21844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l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Redis Lua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스크립트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: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원자적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연산으로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대기열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처리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성능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향상</a:t>
            </a:r>
          </a:p>
          <a:p>
            <a:pPr algn="l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@EntityGraph: N+1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문제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해결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및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쿼리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최적화</a:t>
            </a:r>
          </a:p>
          <a:p>
            <a:pPr algn="l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Redis Cache + ShedLock: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중복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작업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방지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및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캐시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효율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극대화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655300" y="3911600"/>
            <a:ext cx="6108700" cy="431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l" lvl="0">
              <a:lnSpc>
                <a:spcPct val="116199"/>
              </a:lnSpc>
            </a:pP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성능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개선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전략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663700" y="7924800"/>
            <a:ext cx="14960600" cy="1282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Dropshop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프로젝트에서는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고트래픽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환경과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동시성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제어를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고려한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기술적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의사결정을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진행했습니다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. JWT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기반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인증으로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확장성을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확보하고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, Redis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분산락과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낙관적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락을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조합하여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재고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관리의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정합성을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보장했으며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, Fail-Close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전략으로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시스템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안정성을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높였습니다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.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또한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Redis Lua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스크립트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, @EntityGraph, ShedLock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등을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활용해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성능을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최적화했습니다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.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7EC0B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name="Picture 2" id="2"/>
          <p:cNvPicPr>
            <a:picLocks noChangeAspect="true"/>
          </p:cNvPicPr>
          <p:nvPr/>
        </p:nvPicPr>
        <p:blipFill>
          <a:blip r:embed="rId2"/>
          <a:stretch>
            <a:fillRect/>
          </a:stretch>
        </p:blipFill>
        <p:spPr>
          <a:xfrm rot="0">
            <a:off x="533400" y="1092200"/>
            <a:ext cx="17272000" cy="8737600"/>
          </a:xfrm>
          <a:prstGeom prst="rect">
            <a:avLst/>
          </a:prstGeom>
        </p:spPr>
      </p:pic>
      <p:pic>
        <p:nvPicPr>
          <p:cNvPr name="Picture 3" id="3"/>
          <p:cNvPicPr>
            <a:picLocks noChangeAspect="true"/>
          </p:cNvPicPr>
          <p:nvPr/>
        </p:nvPicPr>
        <p:blipFill>
          <a:blip r:embed="rId3"/>
          <a:stretch>
            <a:fillRect/>
          </a:stretch>
        </p:blipFill>
        <p:spPr>
          <a:xfrm rot="-5400000">
            <a:off x="12598400" y="-2971800"/>
            <a:ext cx="1206500" cy="8128000"/>
          </a:xfrm>
          <a:prstGeom prst="rect">
            <a:avLst/>
          </a:prstGeom>
        </p:spPr>
      </p:pic>
      <p:pic>
        <p:nvPicPr>
          <p:cNvPr name="Picture 4" id="4"/>
          <p:cNvPicPr>
            <a:picLocks noChangeAspect="true"/>
          </p:cNvPicPr>
          <p:nvPr/>
        </p:nvPicPr>
        <p:blipFill>
          <a:blip r:embed="rId4"/>
          <a:stretch>
            <a:fillRect/>
          </a:stretch>
        </p:blipFill>
        <p:spPr>
          <a:xfrm rot="0">
            <a:off x="16611600" y="482600"/>
            <a:ext cx="1206500" cy="1206500"/>
          </a:xfrm>
          <a:prstGeom prst="rect">
            <a:avLst/>
          </a:prstGeom>
        </p:spPr>
      </p:pic>
      <p:pic>
        <p:nvPicPr>
          <p:cNvPr name="Picture 5" id="5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4267200" y="-3251200"/>
            <a:ext cx="1206500" cy="8661400"/>
          </a:xfrm>
          <a:prstGeom prst="rect">
            <a:avLst/>
          </a:prstGeom>
        </p:spPr>
      </p:pic>
      <p:sp>
        <p:nvSpPr>
          <p:cNvPr name="TextBox 6" id="6"/>
          <p:cNvSpPr txBox="true"/>
          <p:nvPr/>
        </p:nvSpPr>
        <p:spPr>
          <a:xfrm rot="0">
            <a:off x="914400" y="952500"/>
            <a:ext cx="2336800" cy="2667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l" lvl="0">
              <a:lnSpc>
                <a:spcPct val="99600"/>
              </a:lnSpc>
            </a:pPr>
            <a:r>
              <a:rPr lang="en-US" sz="1500" b="false" i="false" u="none" strike="noStrike" spc="200">
                <a:solidFill>
                  <a:srgbClr val="000000"/>
                </a:solidFill>
                <a:latin typeface="NanumSquareRoundOTF Bold"/>
              </a:rPr>
              <a:t>Miri Company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89000" y="1917700"/>
            <a:ext cx="16497300" cy="977900"/>
          </a:xfrm>
          <a:prstGeom prst="rect">
            <a:avLst/>
          </a:prstGeom>
        </p:spPr>
        <p:txBody>
          <a:bodyPr anchor="ctr" rtlCol="false" lIns="0" tIns="0" rIns="0" bIns="0"/>
          <a:lstStyle/>
          <a:p>
            <a:pPr algn="ctr" lvl="0">
              <a:lnSpc>
                <a:spcPct val="99600"/>
              </a:lnSpc>
            </a:pP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트러블슈팅</a:t>
            </a:r>
            <a:r>
              <a:rPr lang="en-US" sz="5500" b="false" i="false" u="none" strike="noStrike">
                <a:solidFill>
                  <a:srgbClr val="000000"/>
                </a:solidFill>
                <a:latin typeface="establish Retrosans"/>
              </a:rPr>
              <a:t> </a:t>
            </a: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및</a:t>
            </a:r>
            <a:r>
              <a:rPr lang="en-US" sz="5500" b="false" i="false" u="none" strike="noStrike">
                <a:solidFill>
                  <a:srgbClr val="000000"/>
                </a:solidFill>
                <a:latin typeface="establish Retrosans"/>
              </a:rPr>
              <a:t> </a:t>
            </a: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프로젝트</a:t>
            </a:r>
            <a:r>
              <a:rPr lang="en-US" sz="5500" b="false" i="false" u="none" strike="noStrike">
                <a:solidFill>
                  <a:srgbClr val="000000"/>
                </a:solidFill>
                <a:latin typeface="establish Retrosans"/>
              </a:rPr>
              <a:t> </a:t>
            </a:r>
            <a:r>
              <a:rPr lang="ko-KR" sz="5500" b="false" i="false" u="none" strike="noStrike">
                <a:solidFill>
                  <a:srgbClr val="000000"/>
                </a:solidFill>
                <a:ea typeface="establish Retrosans"/>
              </a:rPr>
              <a:t>성과</a:t>
            </a:r>
          </a:p>
        </p:txBody>
      </p:sp>
      <p:pic>
        <p:nvPicPr>
          <p:cNvPr name="Picture 8" id="8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1524000" y="3289300"/>
            <a:ext cx="7454900" cy="2705100"/>
          </a:xfrm>
          <a:prstGeom prst="rect">
            <a:avLst/>
          </a:prstGeom>
        </p:spPr>
      </p:pic>
      <p:sp>
        <p:nvSpPr>
          <p:cNvPr name="TextBox 9" id="9"/>
          <p:cNvSpPr txBox="true"/>
          <p:nvPr/>
        </p:nvSpPr>
        <p:spPr>
          <a:xfrm rot="0">
            <a:off x="1765300" y="4521200"/>
            <a:ext cx="6972300" cy="1282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문제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: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동시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주문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재고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초과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판매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발생</a:t>
            </a:r>
          </a:p>
          <a:p>
            <a:pPr algn="ctr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원인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: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트랜잭션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격리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수준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미흡</a:t>
            </a:r>
          </a:p>
          <a:p>
            <a:pPr algn="ctr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해결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: Redis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분산락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+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낙관적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락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조합으로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정합성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확보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752600" y="3860800"/>
            <a:ext cx="6985000" cy="431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동시성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제어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문제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해결</a:t>
            </a:r>
          </a:p>
        </p:txBody>
      </p:sp>
      <p:pic>
        <p:nvPicPr>
          <p:cNvPr name="Picture 11" id="11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9372600" y="3289300"/>
            <a:ext cx="7454900" cy="2705100"/>
          </a:xfrm>
          <a:prstGeom prst="rect">
            <a:avLst/>
          </a:prstGeom>
        </p:spPr>
      </p:pic>
      <p:sp>
        <p:nvSpPr>
          <p:cNvPr name="TextBox 12" id="12"/>
          <p:cNvSpPr txBox="true"/>
          <p:nvPr/>
        </p:nvSpPr>
        <p:spPr>
          <a:xfrm rot="0">
            <a:off x="9613900" y="4521200"/>
            <a:ext cx="6972300" cy="1282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문제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: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만료된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토큰이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Redis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계속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남아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메모리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낭비</a:t>
            </a:r>
          </a:p>
          <a:p>
            <a:pPr algn="ctr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원인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: TTL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설정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누락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및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수동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삭제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로직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부재</a:t>
            </a:r>
          </a:p>
          <a:p>
            <a:pPr algn="ctr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해결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: Redis EXPIRE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명령어로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자동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만료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구현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9613900" y="3860800"/>
            <a:ext cx="6985000" cy="431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대기열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토큰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만료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처리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개선</a:t>
            </a:r>
          </a:p>
        </p:txBody>
      </p:sp>
      <p:pic>
        <p:nvPicPr>
          <p:cNvPr name="Picture 14" id="14"/>
          <p:cNvPicPr>
            <a:picLocks noChangeAspect="true"/>
          </p:cNvPicPr>
          <p:nvPr/>
        </p:nvPicPr>
        <p:blipFill>
          <a:blip r:embed="rId7"/>
          <a:stretch>
            <a:fillRect/>
          </a:stretch>
        </p:blipFill>
        <p:spPr>
          <a:xfrm rot="0">
            <a:off x="1524000" y="6362700"/>
            <a:ext cx="7454900" cy="2705100"/>
          </a:xfrm>
          <a:prstGeom prst="rect">
            <a:avLst/>
          </a:prstGeom>
        </p:spPr>
      </p:pic>
      <p:sp>
        <p:nvSpPr>
          <p:cNvPr name="TextBox 15" id="15"/>
          <p:cNvSpPr txBox="true"/>
          <p:nvPr/>
        </p:nvSpPr>
        <p:spPr>
          <a:xfrm rot="0">
            <a:off x="1765300" y="7607300"/>
            <a:ext cx="6972300" cy="1282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문제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: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결제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실패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재고가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복원되지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않음</a:t>
            </a:r>
          </a:p>
          <a:p>
            <a:pPr algn="ctr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원인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: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트랜잭션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롤백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재고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복원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로직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누락</a:t>
            </a:r>
          </a:p>
          <a:p>
            <a:pPr algn="ctr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해결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: Kafka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이벤트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기반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재고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복원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및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보상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트랜잭션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적용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1752600" y="6946900"/>
            <a:ext cx="6985000" cy="431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결제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실패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시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재고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복원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로직</a:t>
            </a:r>
          </a:p>
        </p:txBody>
      </p:sp>
      <p:pic>
        <p:nvPicPr>
          <p:cNvPr name="Picture 17" id="17"/>
          <p:cNvPicPr>
            <a:picLocks noChangeAspect="true"/>
          </p:cNvPicPr>
          <p:nvPr/>
        </p:nvPicPr>
        <p:blipFill>
          <a:blip r:embed="rId6"/>
          <a:stretch>
            <a:fillRect/>
          </a:stretch>
        </p:blipFill>
        <p:spPr>
          <a:xfrm rot="0">
            <a:off x="9372600" y="6362700"/>
            <a:ext cx="7454900" cy="2705100"/>
          </a:xfrm>
          <a:prstGeom prst="rect">
            <a:avLst/>
          </a:prstGeom>
        </p:spPr>
      </p:pic>
      <p:sp>
        <p:nvSpPr>
          <p:cNvPr name="TextBox 18" id="18"/>
          <p:cNvSpPr txBox="true"/>
          <p:nvPr/>
        </p:nvSpPr>
        <p:spPr>
          <a:xfrm rot="0">
            <a:off x="9613900" y="7607300"/>
            <a:ext cx="6972300" cy="1282700"/>
          </a:xfrm>
          <a:prstGeom prst="rect">
            <a:avLst/>
          </a:prstGeom>
        </p:spPr>
        <p:txBody>
          <a:bodyPr anchor="t" rtlCol="false" lIns="0" tIns="0" rIns="0" bIns="0"/>
          <a:lstStyle/>
          <a:p>
            <a:pPr algn="ctr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고트래픽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환경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설계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및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이벤트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기반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아키텍처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경험</a:t>
            </a:r>
          </a:p>
          <a:p>
            <a:pPr algn="ctr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인증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,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결제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,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재고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,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알림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,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추천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기능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통합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경험</a:t>
            </a:r>
          </a:p>
          <a:p>
            <a:pPr algn="ctr" lvl="0">
              <a:lnSpc>
                <a:spcPct val="132800"/>
              </a:lnSpc>
            </a:pP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-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분산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시스템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설계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및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동시성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제어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역량</a:t>
            </a:r>
            <a:r>
              <a:rPr lang="en-US" sz="2200" b="false" i="false" u="none" strike="noStrike" spc="-100">
                <a:solidFill>
                  <a:srgbClr val="000000"/>
                </a:solidFill>
                <a:latin typeface="NanumSquareRoundOTF Light"/>
              </a:rPr>
              <a:t> </a:t>
            </a:r>
            <a:r>
              <a:rPr lang="ko-KR" sz="2200" b="false" i="false" u="none" strike="noStrike" spc="-100">
                <a:solidFill>
                  <a:srgbClr val="000000"/>
                </a:solidFill>
                <a:ea typeface="NanumSquareRoundOTF Light"/>
              </a:rPr>
              <a:t>강화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9613900" y="6946900"/>
            <a:ext cx="6985000" cy="431800"/>
          </a:xfrm>
          <a:prstGeom prst="rect">
            <a:avLst/>
          </a:prstGeom>
        </p:spPr>
        <p:txBody>
          <a:bodyPr anchor="b" rtlCol="false" lIns="0" tIns="0" rIns="0" bIns="0"/>
          <a:lstStyle/>
          <a:p>
            <a:pPr algn="ctr" lvl="0">
              <a:lnSpc>
                <a:spcPct val="116199"/>
              </a:lnSpc>
            </a:pP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프로젝트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성과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및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배운</a:t>
            </a:r>
            <a:r>
              <a:rPr lang="en-US" sz="2400" b="false" i="false" u="none" strike="noStrike">
                <a:solidFill>
                  <a:srgbClr val="000000"/>
                </a:solidFill>
                <a:latin typeface="NanumSquareRoundOTF Bold"/>
              </a:rPr>
              <a:t> </a:t>
            </a:r>
            <a:r>
              <a:rPr lang="ko-KR" sz="2400" b="false" i="false" u="none" strike="noStrike">
                <a:solidFill>
                  <a:srgbClr val="000000"/>
                </a:solidFill>
                <a:ea typeface="NanumSquareRoundOTF Bold"/>
              </a:rPr>
              <a:t>점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terms:modified xsi:type="dcterms:W3CDTF">2011-08-01T06:04:30Z</dcterms:modified>
  <cp:revision>1</cp:revision>
</cp:coreProperties>
</file>